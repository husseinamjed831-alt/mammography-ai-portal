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أبدأ بالأرقام العالمية ثم أنتقل للعراق، وأشدد على أن التشخيص المتأخر هو المشكلة الأكبر محلياً.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-609904" y="-1554480"/>
            <a:ext cx="2743200" cy="2743200"/>
          </a:xfrm>
          <a:prstGeom prst="ellipse">
            <a:avLst/>
          </a:prstGeom>
          <a:solidFill>
            <a:srgbClr val="589AA2"/>
          </a:solidFill>
          <a:ln>
            <a:noFill/>
          </a:ln>
          <a:effectLst/>
          <a:scene3d>
            <a:camera prst="orthographicFront"/>
            <a:lightRig rig="threePt" dir="t"/>
          </a:scene3d>
          <a:sp3d extrusionH="0" prstMaterial="powder">
            <a:bevelT w="1371600" h="13716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slab"/>
          <p:cNvSpPr/>
          <p:nvPr/>
        </p:nvSpPr>
        <p:spPr>
          <a:xfrm rot="20100000">
            <a:off x="-61264" y="5760720"/>
            <a:ext cx="1005840" cy="1005840"/>
          </a:xfrm>
          <a:prstGeom prst="roundRect">
            <a:avLst>
              <a:gd name="adj" fmla="val 18000"/>
            </a:avLst>
          </a:prstGeom>
          <a:solidFill>
            <a:srgbClr val="6296A1"/>
          </a:solidFill>
          <a:ln>
            <a:noFill/>
          </a:ln>
          <a:effectLst/>
          <a:scene3d>
            <a:camera prst="isometricOffAxis2Left"/>
            <a:lightRig rig="threePt" dir="t"/>
          </a:scene3d>
          <a:sp3d extrusionH="431800" prstMaterial="plastic">
            <a:bevelT w="76200" h="762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cube"/>
          <p:cNvSpPr/>
          <p:nvPr/>
        </p:nvSpPr>
        <p:spPr>
          <a:xfrm rot="2250000">
            <a:off x="990295" y="61722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3A8891"/>
          </a:solidFill>
          <a:ln>
            <a:noFill/>
          </a:ln>
          <a:effectLst/>
          <a:scene3d>
            <a:camera prst="isometricOffAxis1Right"/>
            <a:lightRig rig="threePt" dir="t"/>
          </a:scene3d>
          <a:sp3d extrusionH="330200" prstMaterial="plastic">
            <a:bevelT w="63500" h="635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r" rtl="1">
              <a:lnSpc>
                <a:spcPct val="110000"/>
              </a:lnSpc>
              <a:spcAft>
                <a:spcPts val="200"/>
              </a:spcAft>
            </a:pPr>
            <a:r>
              <a:rPr sz="1500" b="1" lang="ar-IQ">
                <a:solidFill>
                  <a:srgbClr val="CADCDF"/>
                </a:solidFill>
                <a:latin typeface="Segoe UI"/>
                <a:cs typeface="Segoe UI"/>
              </a:rPr>
              <a:t>جامعة بغداد — كلية الطب</a:t>
            </a:r>
          </a:p>
          <a:p>
            <a:pPr algn="r" rtl="1">
              <a:lnSpc>
                <a:spcPct val="110000"/>
              </a:lnSpc>
              <a:spcAft>
                <a:spcPts val="200"/>
              </a:spcAft>
            </a:pPr>
            <a:r>
              <a:rPr sz="1500" b="1" lang="ar-IQ">
                <a:solidFill>
                  <a:srgbClr val="CADCDF"/>
                </a:solidFill>
                <a:latin typeface="Segoe UI"/>
                <a:cs typeface="Segoe UI"/>
              </a:rPr>
              <a:t>فرع الأشعة والطب النووي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2926080" y="1554480"/>
            <a:ext cx="8625535" cy="20116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norm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3800" b="1" lang="ar-IQ">
                <a:solidFill>
                  <a:srgbClr val="FFFFFF"/>
                </a:solidFill>
                <a:latin typeface="Segoe UI"/>
                <a:cs typeface="Segoe UI"/>
              </a:rPr>
              <a:t>الذكاء الاصطناعي في الكشف المبكر عن سرطان الثدي</a:t>
            </a:r>
          </a:p>
        </p:txBody>
      </p:sp>
      <p:sp>
        <p:nvSpPr>
          <p:cNvPr id="7" name="!!rule"/>
          <p:cNvSpPr/>
          <p:nvPr/>
        </p:nvSpPr>
        <p:spPr>
          <a:xfrm>
            <a:off x="10271455" y="3730752"/>
            <a:ext cx="1280160" cy="73152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ub"/>
          <p:cNvSpPr txBox="1"/>
          <p:nvPr/>
        </p:nvSpPr>
        <p:spPr>
          <a:xfrm>
            <a:off x="2926080" y="3931920"/>
            <a:ext cx="8625535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800" b="0" lang="ar-IQ">
                <a:solidFill>
                  <a:srgbClr val="C3D7DB"/>
                </a:solidFill>
                <a:latin typeface="Segoe UI"/>
                <a:cs typeface="Segoe UI"/>
              </a:rPr>
              <a:t>ما الذي تقوله الأدلة، وأين نقف في العراق؟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7316" y="5074920"/>
            <a:ext cx="345429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r" rtl="1">
              <a:lnSpc>
                <a:spcPct val="110000"/>
              </a:lnSpc>
              <a:spcAft>
                <a:spcPts val="200"/>
              </a:spcAft>
            </a:pPr>
            <a:r>
              <a:rPr sz="1200" b="1" lang="ar-IQ">
                <a:solidFill>
                  <a:srgbClr val="7FB2B8"/>
                </a:solidFill>
                <a:latin typeface="Segoe UI"/>
                <a:cs typeface="Segoe UI"/>
              </a:rPr>
              <a:t>إعداد</a:t>
            </a:r>
          </a:p>
          <a:p>
            <a:pPr algn="r" rtl="1">
              <a:lnSpc>
                <a:spcPct val="110000"/>
              </a:lnSpc>
              <a:spcAft>
                <a:spcPts val="200"/>
              </a:spcAft>
            </a:pPr>
            <a:r>
              <a:rPr sz="1700" b="1" lang="ar-IQ">
                <a:solidFill>
                  <a:srgbClr val="FFFFFF"/>
                </a:solidFill>
                <a:latin typeface="Segoe UI"/>
                <a:cs typeface="Segoe UI"/>
              </a:rPr>
              <a:t>زينب حيدر عبد الكريم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0138" y="5074920"/>
            <a:ext cx="345429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r" rtl="1">
              <a:lnSpc>
                <a:spcPct val="110000"/>
              </a:lnSpc>
              <a:spcAft>
                <a:spcPts val="200"/>
              </a:spcAft>
            </a:pPr>
            <a:r>
              <a:rPr sz="1200" b="1" lang="ar-IQ">
                <a:solidFill>
                  <a:srgbClr val="7FB2B8"/>
                </a:solidFill>
                <a:latin typeface="Segoe UI"/>
                <a:cs typeface="Segoe UI"/>
              </a:rPr>
              <a:t>إشراف</a:t>
            </a:r>
          </a:p>
          <a:p>
            <a:pPr algn="r" rtl="1">
              <a:lnSpc>
                <a:spcPct val="110000"/>
              </a:lnSpc>
              <a:spcAft>
                <a:spcPts val="200"/>
              </a:spcAft>
            </a:pPr>
            <a:r>
              <a:rPr sz="1700" b="1" lang="ar-IQ">
                <a:solidFill>
                  <a:srgbClr val="FFFFFF"/>
                </a:solidFill>
                <a:latin typeface="Segoe UI"/>
                <a:cs typeface="Segoe UI"/>
              </a:rPr>
              <a:t>أ.م.د. عمر فاضل الجبوري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345429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r" rtl="1">
              <a:lnSpc>
                <a:spcPct val="110000"/>
              </a:lnSpc>
              <a:spcAft>
                <a:spcPts val="200"/>
              </a:spcAft>
            </a:pPr>
            <a:r>
              <a:rPr sz="1200" b="1" lang="ar-IQ">
                <a:solidFill>
                  <a:srgbClr val="7FB2B8"/>
                </a:solidFill>
                <a:latin typeface="Segoe UI"/>
                <a:cs typeface="Segoe UI"/>
              </a:rPr>
              <a:t>المادة</a:t>
            </a:r>
          </a:p>
          <a:p>
            <a:pPr algn="r" rtl="1">
              <a:lnSpc>
                <a:spcPct val="110000"/>
              </a:lnSpc>
              <a:spcAft>
                <a:spcPts val="200"/>
              </a:spcAft>
            </a:pPr>
            <a:r>
              <a:rPr sz="1700" b="1" lang="ar-IQ">
                <a:solidFill>
                  <a:srgbClr val="FFFFFF"/>
                </a:solidFill>
                <a:latin typeface="Segoe UI"/>
                <a:cs typeface="Segoe UI"/>
              </a:rPr>
              <a:t>الأشعة التشخيصية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8415" y="635508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lang="ar-IQ">
                <a:solidFill>
                  <a:srgbClr val="9FBFC5"/>
                </a:solidFill>
                <a:latin typeface="Segoe UI"/>
                <a:cs typeface="Segoe UI"/>
              </a:rPr>
              <a:t>2025 –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11002975" y="4846320"/>
            <a:ext cx="2743200" cy="2743200"/>
          </a:xfrm>
          <a:prstGeom prst="ellipse">
            <a:avLst/>
          </a:prstGeom>
          <a:solidFill>
            <a:srgbClr val="DCEAEB"/>
          </a:solidFill>
          <a:ln>
            <a:noFill/>
          </a:ln>
          <a:effectLst/>
          <a:scene3d>
            <a:camera prst="orthographicFront"/>
            <a:lightRig rig="threePt" dir="t"/>
          </a:scene3d>
          <a:sp3d extrusionH="0" prstMaterial="powder">
            <a:bevelT w="1371600" h="13716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slab"/>
          <p:cNvSpPr/>
          <p:nvPr/>
        </p:nvSpPr>
        <p:spPr>
          <a:xfrm rot="2400000">
            <a:off x="807415" y="411480"/>
            <a:ext cx="685800" cy="685800"/>
          </a:xfrm>
          <a:prstGeom prst="roundRect">
            <a:avLst>
              <a:gd name="adj" fmla="val 18000"/>
            </a:avLst>
          </a:prstGeom>
          <a:solidFill>
            <a:srgbClr val="266E7D"/>
          </a:solidFill>
          <a:ln>
            <a:noFill/>
          </a:ln>
          <a:effectLst/>
          <a:scene3d>
            <a:camera prst="isometricOffAxis2Left"/>
            <a:lightRig rig="threePt" dir="t"/>
          </a:scene3d>
          <a:sp3d extrusionH="431800" prstMaterial="plastic">
            <a:bevelT w="76200" h="762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cube"/>
          <p:cNvSpPr/>
          <p:nvPr/>
        </p:nvSpPr>
        <p:spPr>
          <a:xfrm rot="18000000">
            <a:off x="395935" y="580644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3A8891"/>
          </a:solidFill>
          <a:ln>
            <a:noFill/>
          </a:ln>
          <a:effectLst/>
          <a:scene3d>
            <a:camera prst="isometricOffAxis1Right"/>
            <a:lightRig rig="threePt" dir="t"/>
          </a:scene3d>
          <a:sp3d extrusionH="330200" prstMaterial="plastic">
            <a:bevelT w="63500" h="635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1920240" y="320040"/>
            <a:ext cx="9631375" cy="8686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norm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3000" b="1" lang="ar-IQ">
                <a:solidFill>
                  <a:srgbClr val="0E5E6F"/>
                </a:solidFill>
                <a:latin typeface="Segoe UI"/>
                <a:cs typeface="Segoe UI"/>
              </a:rPr>
              <a:t>محاور العرض</a:t>
            </a:r>
          </a:p>
        </p:txBody>
      </p:sp>
      <p:sp>
        <p:nvSpPr>
          <p:cNvPr id="6" name="!!rule"/>
          <p:cNvSpPr/>
          <p:nvPr/>
        </p:nvSpPr>
        <p:spPr>
          <a:xfrm>
            <a:off x="10545775" y="1325880"/>
            <a:ext cx="1005840" cy="64008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AgendaDot0"/>
          <p:cNvSpPr/>
          <p:nvPr/>
        </p:nvSpPr>
        <p:spPr>
          <a:xfrm>
            <a:off x="10984687" y="1810512"/>
            <a:ext cx="566928" cy="566928"/>
          </a:xfrm>
          <a:prstGeom prst="ellipse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84687" y="1810512"/>
            <a:ext cx="566928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 lang="ar-IQ">
                <a:solidFill>
                  <a:srgbClr val="FFFFFF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9" name="Agenda0"/>
          <p:cNvSpPr txBox="1"/>
          <p:nvPr/>
        </p:nvSpPr>
        <p:spPr>
          <a:xfrm>
            <a:off x="6202375" y="1737360"/>
            <a:ext cx="457200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rm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800" b="1" lang="ar-IQ">
                <a:solidFill>
                  <a:srgbClr val="1F2328"/>
                </a:solidFill>
                <a:latin typeface="Segoe UI"/>
                <a:cs typeface="Segoe UI"/>
              </a:rPr>
              <a:t>حجم المشكلة</a:t>
            </a:r>
          </a:p>
        </p:txBody>
      </p:sp>
      <p:sp>
        <p:nvSpPr>
          <p:cNvPr id="10" name="AgendaDot1"/>
          <p:cNvSpPr/>
          <p:nvPr/>
        </p:nvSpPr>
        <p:spPr>
          <a:xfrm>
            <a:off x="5406847" y="1810512"/>
            <a:ext cx="566928" cy="566928"/>
          </a:xfrm>
          <a:prstGeom prst="ellipse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06847" y="1810512"/>
            <a:ext cx="566928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 lang="ar-IQ">
                <a:solidFill>
                  <a:srgbClr val="FFFFFF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2" name="Agenda1"/>
          <p:cNvSpPr txBox="1"/>
          <p:nvPr/>
        </p:nvSpPr>
        <p:spPr>
          <a:xfrm>
            <a:off x="624535" y="1737360"/>
            <a:ext cx="457200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rm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800" b="1" lang="ar-IQ">
                <a:solidFill>
                  <a:srgbClr val="1F2328"/>
                </a:solidFill>
                <a:latin typeface="Segoe UI"/>
                <a:cs typeface="Segoe UI"/>
              </a:rPr>
              <a:t>ماذا تقول الأدلة؟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6415" y="6382512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000" b="0" lang="ar-IQ">
                <a:solidFill>
                  <a:srgbClr val="5B6470"/>
                </a:solidFill>
                <a:latin typeface="Segoe UI"/>
                <a:cs typeface="Segoe UI"/>
              </a:rPr>
              <a:t>الذكاء الاصطناعي في الكشف المبكر عن سرطان الثدي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" y="6382512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lang="ar-IQ">
                <a:solidFill>
                  <a:srgbClr val="3A8891"/>
                </a:solidFill>
                <a:latin typeface="Segoe UI"/>
                <a:cs typeface="Segoe UI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2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-335584" y="4572000"/>
            <a:ext cx="2560320" cy="2560320"/>
          </a:xfrm>
          <a:prstGeom prst="ellipse">
            <a:avLst/>
          </a:prstGeom>
          <a:solidFill>
            <a:srgbClr val="589AA2"/>
          </a:solidFill>
          <a:ln>
            <a:noFill/>
          </a:ln>
          <a:effectLst/>
          <a:scene3d>
            <a:camera prst="orthographicFront"/>
            <a:lightRig rig="threePt" dir="t"/>
          </a:scene3d>
          <a:sp3d extrusionH="0" prstMaterial="powder">
            <a:bevelT w="1280160" h="128016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slab"/>
          <p:cNvSpPr/>
          <p:nvPr/>
        </p:nvSpPr>
        <p:spPr>
          <a:xfrm rot="21000000">
            <a:off x="-61264" y="5577840"/>
            <a:ext cx="1097280" cy="1097280"/>
          </a:xfrm>
          <a:prstGeom prst="roundRect">
            <a:avLst>
              <a:gd name="adj" fmla="val 18000"/>
            </a:avLst>
          </a:prstGeom>
          <a:solidFill>
            <a:srgbClr val="6296A1"/>
          </a:solidFill>
          <a:ln>
            <a:noFill/>
          </a:ln>
          <a:effectLst/>
          <a:scene3d>
            <a:camera prst="isometricOffAxis2Left"/>
            <a:lightRig rig="threePt" dir="t"/>
          </a:scene3d>
          <a:sp3d extrusionH="431800" prstMaterial="plastic">
            <a:bevelT w="76200" h="762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cube"/>
          <p:cNvSpPr/>
          <p:nvPr/>
        </p:nvSpPr>
        <p:spPr>
          <a:xfrm rot="900000">
            <a:off x="1218895" y="13258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A8891"/>
          </a:solidFill>
          <a:ln>
            <a:noFill/>
          </a:ln>
          <a:effectLst/>
          <a:scene3d>
            <a:camera prst="isometricOffAxis1Right"/>
            <a:lightRig rig="threePt" dir="t"/>
          </a:scene3d>
          <a:sp3d extrusionH="330200" prstMaterial="plastic">
            <a:bevelT w="63500" h="635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Num"/>
          <p:cNvSpPr txBox="1"/>
          <p:nvPr/>
        </p:nvSpPr>
        <p:spPr>
          <a:xfrm>
            <a:off x="7894015" y="1554480"/>
            <a:ext cx="36576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600" b="1" lang="ar-IQ">
                <a:solidFill>
                  <a:srgbClr val="61A0A7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6" name="!!rule"/>
          <p:cNvSpPr/>
          <p:nvPr/>
        </p:nvSpPr>
        <p:spPr>
          <a:xfrm>
            <a:off x="10271455" y="3246120"/>
            <a:ext cx="1280160" cy="73152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itle"/>
          <p:cNvSpPr txBox="1"/>
          <p:nvPr/>
        </p:nvSpPr>
        <p:spPr>
          <a:xfrm>
            <a:off x="2926080" y="3474720"/>
            <a:ext cx="8625535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4000" b="1" lang="ar-IQ">
                <a:solidFill>
                  <a:srgbClr val="FFFFFF"/>
                </a:solidFill>
                <a:latin typeface="Segoe UI"/>
                <a:cs typeface="Segoe UI"/>
              </a:rPr>
              <a:t>حجم المشكلة</a:t>
            </a:r>
          </a:p>
        </p:txBody>
      </p:sp>
      <p:sp>
        <p:nvSpPr>
          <p:cNvPr id="8" name="Sub"/>
          <p:cNvSpPr txBox="1"/>
          <p:nvPr/>
        </p:nvSpPr>
        <p:spPr>
          <a:xfrm>
            <a:off x="2926080" y="4754880"/>
            <a:ext cx="8625535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800" b="0" lang="ar-IQ">
                <a:solidFill>
                  <a:srgbClr val="C3D7DB"/>
                </a:solidFill>
                <a:latin typeface="Segoe UI"/>
                <a:cs typeface="Segoe UI"/>
              </a:rPr>
              <a:t>لماذا يهمنا الكشف المبكر؟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-427024" y="-1097280"/>
            <a:ext cx="2194560" cy="2194560"/>
          </a:xfrm>
          <a:prstGeom prst="ellipse">
            <a:avLst/>
          </a:prstGeom>
          <a:solidFill>
            <a:srgbClr val="DCEAEB"/>
          </a:solidFill>
          <a:ln>
            <a:noFill/>
          </a:ln>
          <a:effectLst/>
          <a:scene3d>
            <a:camera prst="orthographicFront"/>
            <a:lightRig rig="threePt" dir="t"/>
          </a:scene3d>
          <a:sp3d extrusionH="0" prstMaterial="powder">
            <a:bevelT w="1097280" h="109728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slab"/>
          <p:cNvSpPr/>
          <p:nvPr/>
        </p:nvSpPr>
        <p:spPr>
          <a:xfrm rot="3300000">
            <a:off x="350215" y="27432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266E7D"/>
          </a:solidFill>
          <a:ln>
            <a:noFill/>
          </a:ln>
          <a:effectLst/>
          <a:scene3d>
            <a:camera prst="isometricOffAxis2Left"/>
            <a:lightRig rig="threePt" dir="t"/>
          </a:scene3d>
          <a:sp3d extrusionH="431800" prstMaterial="plastic">
            <a:bevelT w="76200" h="762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cube"/>
          <p:cNvSpPr/>
          <p:nvPr/>
        </p:nvSpPr>
        <p:spPr>
          <a:xfrm rot="16650000">
            <a:off x="304495" y="53492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A8891"/>
          </a:solidFill>
          <a:ln>
            <a:noFill/>
          </a:ln>
          <a:effectLst/>
          <a:scene3d>
            <a:camera prst="isometricOffAxis1Right"/>
            <a:lightRig rig="threePt" dir="t"/>
          </a:scene3d>
          <a:sp3d extrusionH="330200" prstMaterial="plastic">
            <a:bevelT w="63500" h="635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1920240" y="320040"/>
            <a:ext cx="9631375" cy="8686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norm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3000" b="1" lang="ar-IQ">
                <a:solidFill>
                  <a:srgbClr val="0E5E6F"/>
                </a:solidFill>
                <a:latin typeface="Segoe UI"/>
                <a:cs typeface="Segoe UI"/>
              </a:rPr>
              <a:t>سرطان الثدي بالأرقام</a:t>
            </a:r>
          </a:p>
        </p:txBody>
      </p:sp>
      <p:sp>
        <p:nvSpPr>
          <p:cNvPr id="6" name="!!rule"/>
          <p:cNvSpPr/>
          <p:nvPr/>
        </p:nvSpPr>
        <p:spPr>
          <a:xfrm>
            <a:off x="10545775" y="1325880"/>
            <a:ext cx="1005840" cy="64008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at0"/>
          <p:cNvSpPr/>
          <p:nvPr/>
        </p:nvSpPr>
        <p:spPr>
          <a:xfrm>
            <a:off x="8127796" y="1920240"/>
            <a:ext cx="3423818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0CFD3"/>
            </a:solidFill>
          </a:ln>
          <a:effectLst>
            <a:outerShdw blurRad="190500" dist="381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8127796" y="1920240"/>
            <a:ext cx="3423818" cy="91440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atVal0"/>
          <p:cNvSpPr txBox="1"/>
          <p:nvPr/>
        </p:nvSpPr>
        <p:spPr>
          <a:xfrm>
            <a:off x="8310676" y="2240280"/>
            <a:ext cx="3058058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000" b="1" lang="ar-IQ">
                <a:solidFill>
                  <a:srgbClr val="0E5E6F"/>
                </a:solidFill>
                <a:latin typeface="Segoe UI"/>
                <a:cs typeface="Segoe UI"/>
              </a:rPr>
              <a:t>2.3M</a:t>
            </a:r>
          </a:p>
        </p:txBody>
      </p:sp>
      <p:sp>
        <p:nvSpPr>
          <p:cNvPr id="10" name="StatLbl0"/>
          <p:cNvSpPr txBox="1"/>
          <p:nvPr/>
        </p:nvSpPr>
        <p:spPr>
          <a:xfrm>
            <a:off x="8356396" y="3566160"/>
            <a:ext cx="2966618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1600" b="0" lang="ar-IQ">
                <a:solidFill>
                  <a:srgbClr val="1F2328"/>
                </a:solidFill>
                <a:latin typeface="Segoe UI"/>
                <a:cs typeface="Segoe UI"/>
              </a:rPr>
              <a:t>إصابة جديدة في العالم عام 2022</a:t>
            </a:r>
          </a:p>
        </p:txBody>
      </p:sp>
      <p:sp>
        <p:nvSpPr>
          <p:cNvPr id="11" name="Stat1"/>
          <p:cNvSpPr/>
          <p:nvPr/>
        </p:nvSpPr>
        <p:spPr>
          <a:xfrm>
            <a:off x="4383938" y="1920240"/>
            <a:ext cx="3423818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0CFD3"/>
            </a:solidFill>
          </a:ln>
          <a:effectLst>
            <a:outerShdw blurRad="190500" dist="381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83938" y="1920240"/>
            <a:ext cx="3423818" cy="91440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atVal1"/>
          <p:cNvSpPr txBox="1"/>
          <p:nvPr/>
        </p:nvSpPr>
        <p:spPr>
          <a:xfrm>
            <a:off x="4566818" y="2240280"/>
            <a:ext cx="3058058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000" b="1" lang="ar-IQ">
                <a:solidFill>
                  <a:srgbClr val="0E5E6F"/>
                </a:solidFill>
                <a:latin typeface="Segoe UI"/>
                <a:cs typeface="Segoe UI"/>
              </a:rPr>
              <a:t>670K</a:t>
            </a:r>
          </a:p>
        </p:txBody>
      </p:sp>
      <p:sp>
        <p:nvSpPr>
          <p:cNvPr id="14" name="StatLbl1"/>
          <p:cNvSpPr txBox="1"/>
          <p:nvPr/>
        </p:nvSpPr>
        <p:spPr>
          <a:xfrm>
            <a:off x="4612538" y="3566160"/>
            <a:ext cx="2966618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1600" b="0" lang="ar-IQ">
                <a:solidFill>
                  <a:srgbClr val="1F2328"/>
                </a:solidFill>
                <a:latin typeface="Segoe UI"/>
                <a:cs typeface="Segoe UI"/>
              </a:rPr>
              <a:t>وفاة في العام نفسه</a:t>
            </a:r>
          </a:p>
        </p:txBody>
      </p:sp>
      <p:sp>
        <p:nvSpPr>
          <p:cNvPr id="15" name="Stat2"/>
          <p:cNvSpPr/>
          <p:nvPr/>
        </p:nvSpPr>
        <p:spPr>
          <a:xfrm>
            <a:off x="640080" y="1920240"/>
            <a:ext cx="3423818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0CFD3"/>
            </a:solidFill>
          </a:ln>
          <a:effectLst>
            <a:outerShdw blurRad="190500" dist="381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40080" y="1920240"/>
            <a:ext cx="3423818" cy="91440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atVal2"/>
          <p:cNvSpPr txBox="1"/>
          <p:nvPr/>
        </p:nvSpPr>
        <p:spPr>
          <a:xfrm>
            <a:off x="822960" y="2240280"/>
            <a:ext cx="3058058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000" b="1" lang="ar-IQ">
                <a:solidFill>
                  <a:srgbClr val="0E5E6F"/>
                </a:solidFill>
                <a:latin typeface="Segoe UI"/>
                <a:cs typeface="Segoe UI"/>
              </a:rPr>
              <a:t>≈ ⅓</a:t>
            </a:r>
          </a:p>
        </p:txBody>
      </p:sp>
      <p:sp>
        <p:nvSpPr>
          <p:cNvPr id="18" name="StatLbl2"/>
          <p:cNvSpPr txBox="1"/>
          <p:nvPr/>
        </p:nvSpPr>
        <p:spPr>
          <a:xfrm>
            <a:off x="868680" y="3566160"/>
            <a:ext cx="2966618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1600" b="0" lang="ar-IQ">
                <a:solidFill>
                  <a:srgbClr val="1F2328"/>
                </a:solidFill>
                <a:latin typeface="Segoe UI"/>
                <a:cs typeface="Segoe UI"/>
              </a:rPr>
              <a:t>من سرطانات النساء في العراق</a:t>
            </a:r>
          </a:p>
        </p:txBody>
      </p:sp>
      <p:sp>
        <p:nvSpPr>
          <p:cNvPr id="19" name="Note"/>
          <p:cNvSpPr txBox="1"/>
          <p:nvPr/>
        </p:nvSpPr>
        <p:spPr>
          <a:xfrm>
            <a:off x="640080" y="54864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1300" b="0" lang="ar-IQ">
                <a:solidFill>
                  <a:srgbClr val="5B6470"/>
                </a:solidFill>
                <a:latin typeface="Segoe UI"/>
                <a:cs typeface="Segoe UI"/>
              </a:rPr>
              <a:t>المصدر: GLOBOCAN 2022، والسجل الوطني العراقي للسرطان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6415" y="6382512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000" b="0" lang="ar-IQ">
                <a:solidFill>
                  <a:srgbClr val="5B6470"/>
                </a:solidFill>
                <a:latin typeface="Segoe UI"/>
                <a:cs typeface="Segoe UI"/>
              </a:rPr>
              <a:t>الذكاء الاصطناعي في الكشف المبكر عن سرطان الثدي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" y="6382512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lang="ar-IQ">
                <a:solidFill>
                  <a:srgbClr val="3A8891"/>
                </a:solidFill>
                <a:latin typeface="Segoe UI"/>
                <a:cs typeface="Segoe UI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3" grpId="0"/>
      <p:bldP spid="14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10728655" y="-1371600"/>
            <a:ext cx="2743200" cy="2743200"/>
          </a:xfrm>
          <a:prstGeom prst="ellipse">
            <a:avLst/>
          </a:prstGeom>
          <a:solidFill>
            <a:srgbClr val="DCEAEB"/>
          </a:solidFill>
          <a:ln>
            <a:noFill/>
          </a:ln>
          <a:effectLst/>
          <a:scene3d>
            <a:camera prst="orthographicFront"/>
            <a:lightRig rig="threePt" dir="t"/>
          </a:scene3d>
          <a:sp3d extrusionH="0" prstMaterial="powder">
            <a:bevelT w="1371600" h="13716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slab"/>
          <p:cNvSpPr/>
          <p:nvPr/>
        </p:nvSpPr>
        <p:spPr>
          <a:xfrm rot="1200000">
            <a:off x="487375" y="320040"/>
            <a:ext cx="822960" cy="822960"/>
          </a:xfrm>
          <a:prstGeom prst="roundRect">
            <a:avLst>
              <a:gd name="adj" fmla="val 18000"/>
            </a:avLst>
          </a:prstGeom>
          <a:solidFill>
            <a:srgbClr val="266E7D"/>
          </a:solidFill>
          <a:ln>
            <a:noFill/>
          </a:ln>
          <a:effectLst/>
          <a:scene3d>
            <a:camera prst="isometricOffAxis2Left"/>
            <a:lightRig rig="threePt" dir="t"/>
          </a:scene3d>
          <a:sp3d extrusionH="431800" prstMaterial="plastic">
            <a:bevelT w="76200" h="762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cube"/>
          <p:cNvSpPr/>
          <p:nvPr/>
        </p:nvSpPr>
        <p:spPr>
          <a:xfrm rot="19800000">
            <a:off x="304495" y="13716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A8891"/>
          </a:solidFill>
          <a:ln>
            <a:noFill/>
          </a:ln>
          <a:effectLst/>
          <a:scene3d>
            <a:camera prst="isometricOffAxis1Right"/>
            <a:lightRig rig="threePt" dir="t"/>
          </a:scene3d>
          <a:sp3d extrusionH="330200" prstMaterial="plastic">
            <a:bevelT w="63500" h="635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1920240" y="320040"/>
            <a:ext cx="9631375" cy="8686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norm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3000" b="1" lang="ar-IQ">
                <a:solidFill>
                  <a:srgbClr val="0E5E6F"/>
                </a:solidFill>
                <a:latin typeface="Segoe UI"/>
                <a:cs typeface="Segoe UI"/>
              </a:rPr>
              <a:t>لماذا القراءة المزدوجة مكلفة؟</a:t>
            </a:r>
          </a:p>
        </p:txBody>
      </p:sp>
      <p:sp>
        <p:nvSpPr>
          <p:cNvPr id="6" name="!!rule"/>
          <p:cNvSpPr/>
          <p:nvPr/>
        </p:nvSpPr>
        <p:spPr>
          <a:xfrm>
            <a:off x="10545775" y="1325880"/>
            <a:ext cx="1005840" cy="64008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ody"/>
          <p:cNvSpPr txBox="1"/>
          <p:nvPr/>
        </p:nvSpPr>
        <p:spPr>
          <a:xfrm>
            <a:off x="4572000" y="1691640"/>
            <a:ext cx="6979615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1760" b="1" lang="ar-IQ">
                <a:solidFill>
                  <a:srgbClr val="3A8891"/>
                </a:solidFill>
                <a:latin typeface="Segoe UI"/>
                <a:cs typeface="Segoe UI"/>
              </a:rPr>
              <a:t>◂  </a:t>
            </a:r>
            <a:r>
              <a:rPr sz="2200" b="0" lang="ar-IQ">
                <a:solidFill>
                  <a:srgbClr val="1F2328"/>
                </a:solidFill>
                <a:latin typeface="Segoe UI"/>
                <a:cs typeface="Segoe UI"/>
              </a:rPr>
              <a:t>كل صورة ماموغرام يقرؤها طبيبان مستقلان في برامج الفحص الأوروبية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1760" b="1" lang="ar-IQ">
                <a:solidFill>
                  <a:srgbClr val="3A8891"/>
                </a:solidFill>
                <a:latin typeface="Segoe UI"/>
                <a:cs typeface="Segoe UI"/>
              </a:rPr>
              <a:t>◂  </a:t>
            </a:r>
            <a:r>
              <a:rPr sz="2200" b="0" lang="ar-IQ">
                <a:solidFill>
                  <a:srgbClr val="1F2328"/>
                </a:solidFill>
                <a:latin typeface="Segoe UI"/>
                <a:cs typeface="Segoe UI"/>
              </a:rPr>
              <a:t>النظام يرفع الدقة لكنه يستهلك وقت أخصائيي الأشعة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1760" b="1" lang="ar-IQ">
                <a:solidFill>
                  <a:srgbClr val="3A8891"/>
                </a:solidFill>
                <a:latin typeface="Segoe UI"/>
                <a:cs typeface="Segoe UI"/>
              </a:rPr>
              <a:t>◂  </a:t>
            </a:r>
            <a:r>
              <a:rPr sz="2200" b="0" lang="ar-IQ">
                <a:solidFill>
                  <a:srgbClr val="1F2328"/>
                </a:solidFill>
                <a:latin typeface="Segoe UI"/>
                <a:cs typeface="Segoe UI"/>
              </a:rPr>
              <a:t>النقص في الأخصائيين أشد في المحافظات والمراكز الطرفية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1760" b="1" lang="ar-IQ">
                <a:solidFill>
                  <a:srgbClr val="3A8891"/>
                </a:solidFill>
                <a:latin typeface="Segoe UI"/>
                <a:cs typeface="Segoe UI"/>
              </a:rPr>
              <a:t>◂  </a:t>
            </a:r>
            <a:r>
              <a:rPr sz="2200" b="0" lang="ar-IQ">
                <a:solidFill>
                  <a:srgbClr val="1F2328"/>
                </a:solidFill>
                <a:latin typeface="Segoe UI"/>
                <a:cs typeface="Segoe UI"/>
              </a:rPr>
              <a:t>هنا يأتي دور </a:t>
            </a:r>
            <a:r>
              <a:rPr sz="2200" b="1" lang="ar-IQ">
                <a:solidFill>
                  <a:srgbClr val="1F2328"/>
                </a:solidFill>
                <a:latin typeface="Segoe UI"/>
                <a:cs typeface="Segoe UI"/>
              </a:rPr>
              <a:t>الذكاء الاصطناعي</a:t>
            </a:r>
            <a:r>
              <a:rPr sz="2200" b="0" lang="ar-IQ">
                <a:solidFill>
                  <a:srgbClr val="1F2328"/>
                </a:solidFill>
                <a:latin typeface="Segoe UI"/>
                <a:cs typeface="Segoe UI"/>
              </a:rPr>
              <a:t> قارئاً مساعداً</a:t>
            </a:r>
          </a:p>
        </p:txBody>
      </p:sp>
      <p:sp>
        <p:nvSpPr>
          <p:cNvPr id="8" name="Card"/>
          <p:cNvSpPr/>
          <p:nvPr/>
        </p:nvSpPr>
        <p:spPr>
          <a:xfrm>
            <a:off x="640079" y="178308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E6F2F3"/>
          </a:solidFill>
          <a:ln>
            <a:noFill/>
          </a:ln>
          <a:effectLst>
            <a:outerShdw blurRad="190500" dist="381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ardVal"/>
          <p:cNvSpPr txBox="1"/>
          <p:nvPr/>
        </p:nvSpPr>
        <p:spPr>
          <a:xfrm>
            <a:off x="914399" y="2103120"/>
            <a:ext cx="2926080" cy="1371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 lang="ar-IQ">
                <a:solidFill>
                  <a:srgbClr val="0E5E6F"/>
                </a:solidFill>
                <a:latin typeface="Segoe UI"/>
                <a:cs typeface="Segoe UI"/>
              </a:rPr>
              <a:t>2×</a:t>
            </a:r>
          </a:p>
        </p:txBody>
      </p:sp>
      <p:sp>
        <p:nvSpPr>
          <p:cNvPr id="10" name="CardLbl"/>
          <p:cNvSpPr txBox="1"/>
          <p:nvPr/>
        </p:nvSpPr>
        <p:spPr>
          <a:xfrm>
            <a:off x="914399" y="3520440"/>
            <a:ext cx="292608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1600" b="0" lang="ar-IQ">
                <a:solidFill>
                  <a:srgbClr val="1F2328"/>
                </a:solidFill>
                <a:latin typeface="Segoe UI"/>
                <a:cs typeface="Segoe UI"/>
              </a:rPr>
              <a:t>عدد القراءات لكل صورة في النظام التقليدي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6415" y="6382512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000" b="0" lang="ar-IQ">
                <a:solidFill>
                  <a:srgbClr val="5B6470"/>
                </a:solidFill>
                <a:latin typeface="Segoe UI"/>
                <a:cs typeface="Segoe UI"/>
              </a:rPr>
              <a:t>الذكاء الاصطناعي في الكشف المبكر عن سرطان الثدي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" y="6382512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lang="ar-IQ">
                <a:solidFill>
                  <a:srgbClr val="3A8891"/>
                </a:solidFill>
                <a:latin typeface="Segoe UI"/>
                <a:cs typeface="Segoe UI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build="p"/>
      <p:bldP spid="9" grpId="0"/>
      <p:bldP spid="10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-609904" y="4206240"/>
            <a:ext cx="3291840" cy="3291840"/>
          </a:xfrm>
          <a:prstGeom prst="ellipse">
            <a:avLst/>
          </a:prstGeom>
          <a:solidFill>
            <a:srgbClr val="589AA2"/>
          </a:solidFill>
          <a:ln>
            <a:noFill/>
          </a:ln>
          <a:effectLst/>
          <a:scene3d>
            <a:camera prst="orthographicFront"/>
            <a:lightRig rig="threePt" dir="t"/>
          </a:scene3d>
          <a:sp3d extrusionH="0" prstMaterial="powder">
            <a:bevelT w="1645920" h="164592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slab"/>
          <p:cNvSpPr/>
          <p:nvPr/>
        </p:nvSpPr>
        <p:spPr>
          <a:xfrm rot="20100000">
            <a:off x="-61264" y="5760720"/>
            <a:ext cx="1005840" cy="1005840"/>
          </a:xfrm>
          <a:prstGeom prst="roundRect">
            <a:avLst>
              <a:gd name="adj" fmla="val 18000"/>
            </a:avLst>
          </a:prstGeom>
          <a:solidFill>
            <a:srgbClr val="6296A1"/>
          </a:solidFill>
          <a:ln>
            <a:noFill/>
          </a:ln>
          <a:effectLst/>
          <a:scene3d>
            <a:camera prst="isometricOffAxis2Left"/>
            <a:lightRig rig="threePt" dir="t"/>
          </a:scene3d>
          <a:sp3d extrusionH="431800" prstMaterial="plastic">
            <a:bevelT w="76200" h="762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cube"/>
          <p:cNvSpPr/>
          <p:nvPr/>
        </p:nvSpPr>
        <p:spPr>
          <a:xfrm rot="2250000">
            <a:off x="990295" y="61722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3A8891"/>
          </a:solidFill>
          <a:ln>
            <a:noFill/>
          </a:ln>
          <a:effectLst/>
          <a:scene3d>
            <a:camera prst="isometricOffAxis1Right"/>
            <a:lightRig rig="threePt" dir="t"/>
          </a:scene3d>
          <a:sp3d extrusionH="330200" prstMaterial="plastic">
            <a:bevelT w="63500" h="635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Num"/>
          <p:cNvSpPr txBox="1"/>
          <p:nvPr/>
        </p:nvSpPr>
        <p:spPr>
          <a:xfrm>
            <a:off x="7894015" y="1554480"/>
            <a:ext cx="36576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600" b="1" lang="ar-IQ">
                <a:solidFill>
                  <a:srgbClr val="61A0A7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6" name="!!rule"/>
          <p:cNvSpPr/>
          <p:nvPr/>
        </p:nvSpPr>
        <p:spPr>
          <a:xfrm>
            <a:off x="10271455" y="3246120"/>
            <a:ext cx="1280160" cy="73152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itle"/>
          <p:cNvSpPr txBox="1"/>
          <p:nvPr/>
        </p:nvSpPr>
        <p:spPr>
          <a:xfrm>
            <a:off x="2926080" y="3474720"/>
            <a:ext cx="8625535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4000" b="1" lang="ar-IQ">
                <a:solidFill>
                  <a:srgbClr val="FFFFFF"/>
                </a:solidFill>
                <a:latin typeface="Segoe UI"/>
                <a:cs typeface="Segoe UI"/>
              </a:rPr>
              <a:t>ماذا تقول الأدلة؟</a:t>
            </a:r>
          </a:p>
        </p:txBody>
      </p:sp>
      <p:sp>
        <p:nvSpPr>
          <p:cNvPr id="8" name="Sub"/>
          <p:cNvSpPr txBox="1"/>
          <p:nvPr/>
        </p:nvSpPr>
        <p:spPr>
          <a:xfrm>
            <a:off x="2926080" y="4754880"/>
            <a:ext cx="8625535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800" b="0" lang="ar-IQ">
                <a:solidFill>
                  <a:srgbClr val="C3D7DB"/>
                </a:solidFill>
                <a:latin typeface="Segoe UI"/>
                <a:cs typeface="Segoe UI"/>
              </a:rPr>
              <a:t>من الدراسات الاسترجاعية إلى التجارب العشوائية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-609904" y="-1554480"/>
            <a:ext cx="2743200" cy="2743200"/>
          </a:xfrm>
          <a:prstGeom prst="ellipse">
            <a:avLst/>
          </a:prstGeom>
          <a:solidFill>
            <a:srgbClr val="DCEAEB"/>
          </a:solidFill>
          <a:ln>
            <a:noFill/>
          </a:ln>
          <a:effectLst/>
          <a:scene3d>
            <a:camera prst="orthographicFront"/>
            <a:lightRig rig="threePt" dir="t"/>
          </a:scene3d>
          <a:sp3d extrusionH="0" prstMaterial="powder">
            <a:bevelT w="1371600" h="13716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slab"/>
          <p:cNvSpPr/>
          <p:nvPr/>
        </p:nvSpPr>
        <p:spPr>
          <a:xfrm rot="2400000">
            <a:off x="807415" y="411480"/>
            <a:ext cx="685800" cy="685800"/>
          </a:xfrm>
          <a:prstGeom prst="roundRect">
            <a:avLst>
              <a:gd name="adj" fmla="val 18000"/>
            </a:avLst>
          </a:prstGeom>
          <a:solidFill>
            <a:srgbClr val="266E7D"/>
          </a:solidFill>
          <a:ln>
            <a:noFill/>
          </a:ln>
          <a:effectLst/>
          <a:scene3d>
            <a:camera prst="isometricOffAxis2Left"/>
            <a:lightRig rig="threePt" dir="t"/>
          </a:scene3d>
          <a:sp3d extrusionH="431800" prstMaterial="plastic">
            <a:bevelT w="76200" h="762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cube"/>
          <p:cNvSpPr/>
          <p:nvPr/>
        </p:nvSpPr>
        <p:spPr>
          <a:xfrm rot="18000000">
            <a:off x="395935" y="580644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3A8891"/>
          </a:solidFill>
          <a:ln>
            <a:noFill/>
          </a:ln>
          <a:effectLst/>
          <a:scene3d>
            <a:camera prst="isometricOffAxis1Right"/>
            <a:lightRig rig="threePt" dir="t"/>
          </a:scene3d>
          <a:sp3d extrusionH="330200" prstMaterial="plastic">
            <a:bevelT w="63500" h="635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1920240" y="320040"/>
            <a:ext cx="9631375" cy="8686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norm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3000" b="1" lang="ar-IQ">
                <a:solidFill>
                  <a:srgbClr val="0E5E6F"/>
                </a:solidFill>
                <a:latin typeface="Segoe UI"/>
                <a:cs typeface="Segoe UI"/>
              </a:rPr>
              <a:t>تطور الأدلة خلال خمس سنوات</a:t>
            </a:r>
          </a:p>
        </p:txBody>
      </p:sp>
      <p:sp>
        <p:nvSpPr>
          <p:cNvPr id="6" name="!!rule"/>
          <p:cNvSpPr/>
          <p:nvPr/>
        </p:nvSpPr>
        <p:spPr>
          <a:xfrm>
            <a:off x="10545775" y="1325880"/>
            <a:ext cx="1005840" cy="64008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2004021" y="2395728"/>
            <a:ext cx="8183651" cy="45720"/>
          </a:xfrm>
          <a:prstGeom prst="rect">
            <a:avLst/>
          </a:prstGeom>
          <a:solidFill>
            <a:srgbClr val="89B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ot0"/>
          <p:cNvSpPr/>
          <p:nvPr/>
        </p:nvSpPr>
        <p:spPr>
          <a:xfrm>
            <a:off x="9858489" y="2084831"/>
            <a:ext cx="658368" cy="658368"/>
          </a:xfrm>
          <a:prstGeom prst="ellipse">
            <a:avLst/>
          </a:prstGeom>
          <a:solidFill>
            <a:srgbClr val="0E5E6F"/>
          </a:solidFill>
          <a:ln>
            <a:noFill/>
          </a:ln>
          <a:effectLst>
            <a:outerShdw blurRad="190500" dist="381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otN0"/>
          <p:cNvSpPr txBox="1"/>
          <p:nvPr/>
        </p:nvSpPr>
        <p:spPr>
          <a:xfrm>
            <a:off x="9858489" y="2084831"/>
            <a:ext cx="658368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lang="ar-IQ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0" name="Step0"/>
          <p:cNvSpPr txBox="1"/>
          <p:nvPr/>
        </p:nvSpPr>
        <p:spPr>
          <a:xfrm>
            <a:off x="8933459" y="2971800"/>
            <a:ext cx="2508427" cy="3017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 lang="ar-IQ">
                <a:solidFill>
                  <a:srgbClr val="0E5E6F"/>
                </a:solidFill>
                <a:latin typeface="Segoe UI"/>
                <a:cs typeface="Segoe UI"/>
              </a:rPr>
              <a:t>2019</a:t>
            </a:r>
          </a:p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1600" b="0" lang="ar-IQ">
                <a:solidFill>
                  <a:srgbClr val="1F2328"/>
                </a:solidFill>
                <a:latin typeface="Segoe UI"/>
                <a:cs typeface="Segoe UI"/>
              </a:rPr>
              <a:t>أداء غير أدنى من متوسط 101 طبيب أشعة</a:t>
            </a:r>
          </a:p>
        </p:txBody>
      </p:sp>
      <p:sp>
        <p:nvSpPr>
          <p:cNvPr id="11" name="Dot1"/>
          <p:cNvSpPr/>
          <p:nvPr/>
        </p:nvSpPr>
        <p:spPr>
          <a:xfrm>
            <a:off x="7130605" y="2084831"/>
            <a:ext cx="658368" cy="658368"/>
          </a:xfrm>
          <a:prstGeom prst="ellipse">
            <a:avLst/>
          </a:prstGeom>
          <a:solidFill>
            <a:srgbClr val="0E5E6F"/>
          </a:solidFill>
          <a:ln>
            <a:noFill/>
          </a:ln>
          <a:effectLst>
            <a:outerShdw blurRad="190500" dist="381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otN1"/>
          <p:cNvSpPr txBox="1"/>
          <p:nvPr/>
        </p:nvSpPr>
        <p:spPr>
          <a:xfrm>
            <a:off x="7130605" y="2084831"/>
            <a:ext cx="658368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lang="ar-IQ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3" name="Step1"/>
          <p:cNvSpPr txBox="1"/>
          <p:nvPr/>
        </p:nvSpPr>
        <p:spPr>
          <a:xfrm>
            <a:off x="6205575" y="2971800"/>
            <a:ext cx="2508427" cy="3017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 lang="ar-IQ">
                <a:solidFill>
                  <a:srgbClr val="0E5E6F"/>
                </a:solidFill>
                <a:latin typeface="Segoe UI"/>
                <a:cs typeface="Segoe UI"/>
              </a:rPr>
              <a:t>2020</a:t>
            </a:r>
          </a:p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1600" b="0" lang="ar-IQ">
                <a:solidFill>
                  <a:srgbClr val="1F2328"/>
                </a:solidFill>
                <a:latin typeface="Segoe UI"/>
                <a:cs typeface="Segoe UI"/>
              </a:rPr>
              <a:t>دراسة Nature: إيجابيات وسلبيات كاذبة أقل</a:t>
            </a:r>
          </a:p>
        </p:txBody>
      </p:sp>
      <p:sp>
        <p:nvSpPr>
          <p:cNvPr id="14" name="Dot2"/>
          <p:cNvSpPr/>
          <p:nvPr/>
        </p:nvSpPr>
        <p:spPr>
          <a:xfrm>
            <a:off x="4402721" y="2084831"/>
            <a:ext cx="658368" cy="658368"/>
          </a:xfrm>
          <a:prstGeom prst="ellipse">
            <a:avLst/>
          </a:prstGeom>
          <a:solidFill>
            <a:srgbClr val="0E5E6F"/>
          </a:solidFill>
          <a:ln>
            <a:noFill/>
          </a:ln>
          <a:effectLst>
            <a:outerShdw blurRad="190500" dist="381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otN2"/>
          <p:cNvSpPr txBox="1"/>
          <p:nvPr/>
        </p:nvSpPr>
        <p:spPr>
          <a:xfrm>
            <a:off x="4402721" y="2084831"/>
            <a:ext cx="658368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lang="ar-IQ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6" name="Step2"/>
          <p:cNvSpPr txBox="1"/>
          <p:nvPr/>
        </p:nvSpPr>
        <p:spPr>
          <a:xfrm>
            <a:off x="3477691" y="2971800"/>
            <a:ext cx="2508427" cy="3017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 lang="ar-IQ">
                <a:solidFill>
                  <a:srgbClr val="0E5E6F"/>
                </a:solidFill>
                <a:latin typeface="Segoe UI"/>
                <a:cs typeface="Segoe UI"/>
              </a:rPr>
              <a:t>2021</a:t>
            </a:r>
          </a:p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1600" b="0" lang="ar-IQ">
                <a:solidFill>
                  <a:srgbClr val="1F2328"/>
                </a:solidFill>
                <a:latin typeface="Segoe UI"/>
                <a:cs typeface="Segoe UI"/>
              </a:rPr>
              <a:t>مراجعة BMJ: أغلب الأنظمة أقل دقة من قارئ واحد</a:t>
            </a:r>
          </a:p>
        </p:txBody>
      </p:sp>
      <p:sp>
        <p:nvSpPr>
          <p:cNvPr id="17" name="Dot3"/>
          <p:cNvSpPr/>
          <p:nvPr/>
        </p:nvSpPr>
        <p:spPr>
          <a:xfrm>
            <a:off x="1674837" y="2084831"/>
            <a:ext cx="658368" cy="658368"/>
          </a:xfrm>
          <a:prstGeom prst="ellipse">
            <a:avLst/>
          </a:prstGeom>
          <a:solidFill>
            <a:srgbClr val="0E5E6F"/>
          </a:solidFill>
          <a:ln>
            <a:noFill/>
          </a:ln>
          <a:effectLst>
            <a:outerShdw blurRad="190500" dist="381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otN3"/>
          <p:cNvSpPr txBox="1"/>
          <p:nvPr/>
        </p:nvSpPr>
        <p:spPr>
          <a:xfrm>
            <a:off x="1674837" y="2084831"/>
            <a:ext cx="658368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lang="ar-IQ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9" name="Step3"/>
          <p:cNvSpPr txBox="1"/>
          <p:nvPr/>
        </p:nvSpPr>
        <p:spPr>
          <a:xfrm>
            <a:off x="749808" y="2971800"/>
            <a:ext cx="2508427" cy="3017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 lang="ar-IQ">
                <a:solidFill>
                  <a:srgbClr val="0E5E6F"/>
                </a:solidFill>
                <a:latin typeface="Segoe UI"/>
                <a:cs typeface="Segoe UI"/>
              </a:rPr>
              <a:t>2023</a:t>
            </a:r>
          </a:p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1600" b="0" lang="ar-IQ">
                <a:solidFill>
                  <a:srgbClr val="1F2328"/>
                </a:solidFill>
                <a:latin typeface="Segoe UI"/>
                <a:cs typeface="Segoe UI"/>
              </a:rPr>
              <a:t>تجربة MASAI: اكتشاف أعلى وعبء أقل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6415" y="6382512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000" b="0" lang="ar-IQ">
                <a:solidFill>
                  <a:srgbClr val="5B6470"/>
                </a:solidFill>
                <a:latin typeface="Segoe UI"/>
                <a:cs typeface="Segoe UI"/>
              </a:rPr>
              <a:t>الذكاء الاصطناعي في الكشف المبكر عن سرطان الثدي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" y="6382512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lang="ar-IQ">
                <a:solidFill>
                  <a:srgbClr val="3A8891"/>
                </a:solidFill>
                <a:latin typeface="Segoe UI"/>
                <a:cs typeface="Segoe UI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2" grpId="0"/>
      <p:bldP spid="13" grpId="0"/>
      <p:bldP spid="15" grpId="0"/>
      <p:bldP spid="16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11002975" y="4846320"/>
            <a:ext cx="2743200" cy="2743200"/>
          </a:xfrm>
          <a:prstGeom prst="ellipse">
            <a:avLst/>
          </a:prstGeom>
          <a:solidFill>
            <a:srgbClr val="DCEAEB"/>
          </a:solidFill>
          <a:ln>
            <a:noFill/>
          </a:ln>
          <a:effectLst/>
          <a:scene3d>
            <a:camera prst="orthographicFront"/>
            <a:lightRig rig="threePt" dir="t"/>
          </a:scene3d>
          <a:sp3d extrusionH="0" prstMaterial="powder">
            <a:bevelT w="1371600" h="13716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slab"/>
          <p:cNvSpPr/>
          <p:nvPr/>
        </p:nvSpPr>
        <p:spPr>
          <a:xfrm rot="21000000">
            <a:off x="-61264" y="5577840"/>
            <a:ext cx="1097280" cy="1097280"/>
          </a:xfrm>
          <a:prstGeom prst="roundRect">
            <a:avLst>
              <a:gd name="adj" fmla="val 18000"/>
            </a:avLst>
          </a:prstGeom>
          <a:solidFill>
            <a:srgbClr val="266E7D"/>
          </a:solidFill>
          <a:ln>
            <a:noFill/>
          </a:ln>
          <a:effectLst/>
          <a:scene3d>
            <a:camera prst="isometricOffAxis2Left"/>
            <a:lightRig rig="threePt" dir="t"/>
          </a:scene3d>
          <a:sp3d extrusionH="431800" prstMaterial="plastic">
            <a:bevelT w="76200" h="762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cube"/>
          <p:cNvSpPr/>
          <p:nvPr/>
        </p:nvSpPr>
        <p:spPr>
          <a:xfrm rot="900000">
            <a:off x="1218895" y="13258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A8891"/>
          </a:solidFill>
          <a:ln>
            <a:noFill/>
          </a:ln>
          <a:effectLst/>
          <a:scene3d>
            <a:camera prst="isometricOffAxis1Right"/>
            <a:lightRig rig="threePt" dir="t"/>
          </a:scene3d>
          <a:sp3d extrusionH="330200" prstMaterial="plastic">
            <a:bevelT w="63500" h="635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1920240" y="320040"/>
            <a:ext cx="9631375" cy="8686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norm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3000" b="1" lang="ar-IQ">
                <a:solidFill>
                  <a:srgbClr val="0E5E6F"/>
                </a:solidFill>
                <a:latin typeface="Segoe UI"/>
                <a:cs typeface="Segoe UI"/>
              </a:rPr>
              <a:t>تجربة MASAI السويدية</a:t>
            </a:r>
          </a:p>
        </p:txBody>
      </p:sp>
      <p:sp>
        <p:nvSpPr>
          <p:cNvPr id="6" name="!!rule"/>
          <p:cNvSpPr/>
          <p:nvPr/>
        </p:nvSpPr>
        <p:spPr>
          <a:xfrm>
            <a:off x="10545775" y="1325880"/>
            <a:ext cx="1005840" cy="64008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at0"/>
          <p:cNvSpPr/>
          <p:nvPr/>
        </p:nvSpPr>
        <p:spPr>
          <a:xfrm>
            <a:off x="8127796" y="1920240"/>
            <a:ext cx="3423818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0CFD3"/>
            </a:solidFill>
          </a:ln>
          <a:effectLst>
            <a:outerShdw blurRad="190500" dist="381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8127796" y="1920240"/>
            <a:ext cx="3423818" cy="91440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atVal0"/>
          <p:cNvSpPr txBox="1"/>
          <p:nvPr/>
        </p:nvSpPr>
        <p:spPr>
          <a:xfrm>
            <a:off x="8310676" y="2240280"/>
            <a:ext cx="3058058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000" b="1" lang="ar-IQ">
                <a:solidFill>
                  <a:srgbClr val="0E5E6F"/>
                </a:solidFill>
                <a:latin typeface="Segoe UI"/>
                <a:cs typeface="Segoe UI"/>
              </a:rPr>
              <a:t>+80K</a:t>
            </a:r>
          </a:p>
        </p:txBody>
      </p:sp>
      <p:sp>
        <p:nvSpPr>
          <p:cNvPr id="10" name="StatLbl0"/>
          <p:cNvSpPr txBox="1"/>
          <p:nvPr/>
        </p:nvSpPr>
        <p:spPr>
          <a:xfrm>
            <a:off x="8356396" y="3566160"/>
            <a:ext cx="2966618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1600" b="0" lang="ar-IQ">
                <a:solidFill>
                  <a:srgbClr val="1F2328"/>
                </a:solidFill>
                <a:latin typeface="Segoe UI"/>
                <a:cs typeface="Segoe UI"/>
              </a:rPr>
              <a:t>امرأة في تجربة عشوائية</a:t>
            </a:r>
          </a:p>
        </p:txBody>
      </p:sp>
      <p:sp>
        <p:nvSpPr>
          <p:cNvPr id="11" name="Stat1"/>
          <p:cNvSpPr/>
          <p:nvPr/>
        </p:nvSpPr>
        <p:spPr>
          <a:xfrm>
            <a:off x="4383938" y="1920240"/>
            <a:ext cx="3423818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0CFD3"/>
            </a:solidFill>
          </a:ln>
          <a:effectLst>
            <a:outerShdw blurRad="190500" dist="381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83938" y="1920240"/>
            <a:ext cx="3423818" cy="91440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atVal1"/>
          <p:cNvSpPr txBox="1"/>
          <p:nvPr/>
        </p:nvSpPr>
        <p:spPr>
          <a:xfrm>
            <a:off x="4566818" y="2240280"/>
            <a:ext cx="3058058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 lang="ar-IQ">
                <a:solidFill>
                  <a:srgbClr val="0E5E6F"/>
                </a:solidFill>
                <a:latin typeface="Segoe UI"/>
                <a:cs typeface="Segoe UI"/>
              </a:rPr>
              <a:t>6.1 vs 5.1</a:t>
            </a:r>
          </a:p>
        </p:txBody>
      </p:sp>
      <p:sp>
        <p:nvSpPr>
          <p:cNvPr id="14" name="StatLbl1"/>
          <p:cNvSpPr txBox="1"/>
          <p:nvPr/>
        </p:nvSpPr>
        <p:spPr>
          <a:xfrm>
            <a:off x="4612538" y="3566160"/>
            <a:ext cx="2966618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1600" b="0" lang="ar-IQ">
                <a:solidFill>
                  <a:srgbClr val="1F2328"/>
                </a:solidFill>
                <a:latin typeface="Segoe UI"/>
                <a:cs typeface="Segoe UI"/>
              </a:rPr>
              <a:t>سرطان مكتشف لكل ألف امرأة</a:t>
            </a:r>
          </a:p>
        </p:txBody>
      </p:sp>
      <p:sp>
        <p:nvSpPr>
          <p:cNvPr id="15" name="Stat2"/>
          <p:cNvSpPr/>
          <p:nvPr/>
        </p:nvSpPr>
        <p:spPr>
          <a:xfrm>
            <a:off x="640080" y="1920240"/>
            <a:ext cx="3423818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0CFD3"/>
            </a:solidFill>
          </a:ln>
          <a:effectLst>
            <a:outerShdw blurRad="190500" dist="381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40080" y="1920240"/>
            <a:ext cx="3423818" cy="91440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atVal2"/>
          <p:cNvSpPr txBox="1"/>
          <p:nvPr/>
        </p:nvSpPr>
        <p:spPr>
          <a:xfrm>
            <a:off x="822960" y="2240280"/>
            <a:ext cx="3058058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000" b="1" lang="ar-IQ">
                <a:solidFill>
                  <a:srgbClr val="0E5E6F"/>
                </a:solidFill>
                <a:latin typeface="Segoe UI"/>
                <a:cs typeface="Segoe UI"/>
              </a:rPr>
              <a:t>44%</a:t>
            </a:r>
          </a:p>
        </p:txBody>
      </p:sp>
      <p:sp>
        <p:nvSpPr>
          <p:cNvPr id="18" name="StatLbl2"/>
          <p:cNvSpPr txBox="1"/>
          <p:nvPr/>
        </p:nvSpPr>
        <p:spPr>
          <a:xfrm>
            <a:off x="868680" y="3566160"/>
            <a:ext cx="2966618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1600" b="0" lang="ar-IQ">
                <a:solidFill>
                  <a:srgbClr val="1F2328"/>
                </a:solidFill>
                <a:latin typeface="Segoe UI"/>
                <a:cs typeface="Segoe UI"/>
              </a:rPr>
              <a:t>انخفاض في عبء قراءة الصور</a:t>
            </a:r>
          </a:p>
        </p:txBody>
      </p:sp>
      <p:sp>
        <p:nvSpPr>
          <p:cNvPr id="19" name="Note"/>
          <p:cNvSpPr txBox="1"/>
          <p:nvPr/>
        </p:nvSpPr>
        <p:spPr>
          <a:xfrm>
            <a:off x="640080" y="54864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 lang="ar-IQ">
                <a:solidFill>
                  <a:srgbClr val="5B6470"/>
                </a:solidFill>
                <a:latin typeface="Segoe UI"/>
                <a:cs typeface="Segoe UI"/>
              </a:rPr>
              <a:t>Lång et al., The Lancet Oncology, 2023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6415" y="6382512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000" b="0" lang="ar-IQ">
                <a:solidFill>
                  <a:srgbClr val="5B6470"/>
                </a:solidFill>
                <a:latin typeface="Segoe UI"/>
                <a:cs typeface="Segoe UI"/>
              </a:rPr>
              <a:t>الذكاء الاصطناعي في الكشف المبكر عن سرطان الثدي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" y="6382512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lang="ar-IQ">
                <a:solidFill>
                  <a:srgbClr val="3A8891"/>
                </a:solidFill>
                <a:latin typeface="Segoe UI"/>
                <a:cs typeface="Segoe UI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3" grpId="0"/>
      <p:bldP spid="14" grpId="0"/>
      <p:bldP spid="17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-335584" y="4572000"/>
            <a:ext cx="2560320" cy="2560320"/>
          </a:xfrm>
          <a:prstGeom prst="ellipse">
            <a:avLst/>
          </a:prstGeom>
          <a:solidFill>
            <a:srgbClr val="DCEAEB"/>
          </a:solidFill>
          <a:ln>
            <a:noFill/>
          </a:ln>
          <a:effectLst/>
          <a:scene3d>
            <a:camera prst="orthographicFront"/>
            <a:lightRig rig="threePt" dir="t"/>
          </a:scene3d>
          <a:sp3d extrusionH="0" prstMaterial="powder">
            <a:bevelT w="1280160" h="128016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slab"/>
          <p:cNvSpPr/>
          <p:nvPr/>
        </p:nvSpPr>
        <p:spPr>
          <a:xfrm rot="3300000">
            <a:off x="350215" y="27432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266E7D"/>
          </a:solidFill>
          <a:ln>
            <a:noFill/>
          </a:ln>
          <a:effectLst/>
          <a:scene3d>
            <a:camera prst="isometricOffAxis2Left"/>
            <a:lightRig rig="threePt" dir="t"/>
          </a:scene3d>
          <a:sp3d extrusionH="431800" prstMaterial="plastic">
            <a:bevelT w="76200" h="762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cube"/>
          <p:cNvSpPr/>
          <p:nvPr/>
        </p:nvSpPr>
        <p:spPr>
          <a:xfrm rot="16650000">
            <a:off x="304495" y="53492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A8891"/>
          </a:solidFill>
          <a:ln>
            <a:noFill/>
          </a:ln>
          <a:effectLst/>
          <a:scene3d>
            <a:camera prst="isometricOffAxis1Right"/>
            <a:lightRig rig="threePt" dir="t"/>
          </a:scene3d>
          <a:sp3d extrusionH="330200" prstMaterial="plastic">
            <a:bevelT w="63500" h="635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1920240" y="320040"/>
            <a:ext cx="9631375" cy="8686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norm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3000" b="1" lang="ar-IQ">
                <a:solidFill>
                  <a:srgbClr val="0E5E6F"/>
                </a:solidFill>
                <a:latin typeface="Segoe UI"/>
                <a:cs typeface="Segoe UI"/>
              </a:rPr>
              <a:t>الوعد مقابل الحذر</a:t>
            </a:r>
          </a:p>
        </p:txBody>
      </p:sp>
      <p:sp>
        <p:nvSpPr>
          <p:cNvPr id="6" name="!!rule"/>
          <p:cNvSpPr/>
          <p:nvPr/>
        </p:nvSpPr>
        <p:spPr>
          <a:xfrm>
            <a:off x="10545775" y="1325880"/>
            <a:ext cx="1005840" cy="64008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l0"/>
          <p:cNvSpPr/>
          <p:nvPr/>
        </p:nvSpPr>
        <p:spPr>
          <a:xfrm>
            <a:off x="6324447" y="1691640"/>
            <a:ext cx="5227167" cy="4480560"/>
          </a:xfrm>
          <a:prstGeom prst="roundRect">
            <a:avLst>
              <a:gd name="adj" fmla="val 6000"/>
            </a:avLst>
          </a:prstGeom>
          <a:solidFill>
            <a:srgbClr val="E6F2F3"/>
          </a:solidFill>
          <a:ln>
            <a:noFill/>
          </a:ln>
          <a:effectLst>
            <a:outerShdw blurRad="190500" dist="381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24447" y="1691640"/>
            <a:ext cx="5227167" cy="82296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lText0"/>
          <p:cNvSpPr txBox="1"/>
          <p:nvPr/>
        </p:nvSpPr>
        <p:spPr>
          <a:xfrm>
            <a:off x="6644487" y="1965960"/>
            <a:ext cx="4587087" cy="4023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r" rtl="1">
              <a:lnSpc>
                <a:spcPct val="110000"/>
              </a:lnSpc>
              <a:spcAft>
                <a:spcPts val="1200"/>
              </a:spcAft>
            </a:pPr>
            <a:r>
              <a:rPr sz="2200" b="1" lang="ar-IQ">
                <a:solidFill>
                  <a:srgbClr val="0E5E6F"/>
                </a:solidFill>
                <a:latin typeface="Segoe UI"/>
                <a:cs typeface="Segoe UI"/>
              </a:rPr>
              <a:t>ما يعد به</a:t>
            </a:r>
          </a:p>
          <a:p>
            <a:pPr algn="r" rtl="1">
              <a:lnSpc>
                <a:spcPct val="110000"/>
              </a:lnSpc>
              <a:spcAft>
                <a:spcPts val="1000"/>
              </a:spcAft>
            </a:pPr>
            <a:r>
              <a:rPr sz="1440" b="1" lang="ar-IQ">
                <a:solidFill>
                  <a:srgbClr val="3A8891"/>
                </a:solidFill>
                <a:latin typeface="Segoe UI"/>
                <a:cs typeface="Segoe UI"/>
              </a:rPr>
              <a:t>◂  </a:t>
            </a:r>
            <a:r>
              <a:rPr sz="1800" b="0" lang="ar-IQ">
                <a:solidFill>
                  <a:srgbClr val="1F2328"/>
                </a:solidFill>
                <a:latin typeface="Segoe UI"/>
                <a:cs typeface="Segoe UI"/>
              </a:rPr>
              <a:t>فرز الحالات حسب الخطورة</a:t>
            </a:r>
          </a:p>
          <a:p>
            <a:pPr algn="r" rtl="1">
              <a:lnSpc>
                <a:spcPct val="110000"/>
              </a:lnSpc>
              <a:spcAft>
                <a:spcPts val="1000"/>
              </a:spcAft>
            </a:pPr>
            <a:r>
              <a:rPr sz="1440" b="1" lang="ar-IQ">
                <a:solidFill>
                  <a:srgbClr val="3A8891"/>
                </a:solidFill>
                <a:latin typeface="Segoe UI"/>
                <a:cs typeface="Segoe UI"/>
              </a:rPr>
              <a:t>◂  </a:t>
            </a:r>
            <a:r>
              <a:rPr sz="1800" b="0" lang="ar-IQ">
                <a:solidFill>
                  <a:srgbClr val="1F2328"/>
                </a:solidFill>
                <a:latin typeface="Segoe UI"/>
                <a:cs typeface="Segoe UI"/>
              </a:rPr>
              <a:t>تخفيف عبء القراءة</a:t>
            </a:r>
          </a:p>
          <a:p>
            <a:pPr algn="r" rtl="1">
              <a:lnSpc>
                <a:spcPct val="110000"/>
              </a:lnSpc>
              <a:spcAft>
                <a:spcPts val="1000"/>
              </a:spcAft>
            </a:pPr>
            <a:r>
              <a:rPr sz="1440" b="1" lang="ar-IQ">
                <a:solidFill>
                  <a:srgbClr val="3A8891"/>
                </a:solidFill>
                <a:latin typeface="Segoe UI"/>
                <a:cs typeface="Segoe UI"/>
              </a:rPr>
              <a:t>◂  </a:t>
            </a:r>
            <a:r>
              <a:rPr sz="1800" b="0" lang="ar-IQ">
                <a:solidFill>
                  <a:srgbClr val="1F2328"/>
                </a:solidFill>
                <a:latin typeface="Segoe UI"/>
                <a:cs typeface="Segoe UI"/>
              </a:rPr>
              <a:t>رفع معدل الاكتشاف</a:t>
            </a:r>
          </a:p>
        </p:txBody>
      </p:sp>
      <p:sp>
        <p:nvSpPr>
          <p:cNvPr id="10" name="Col1"/>
          <p:cNvSpPr/>
          <p:nvPr/>
        </p:nvSpPr>
        <p:spPr>
          <a:xfrm>
            <a:off x="640080" y="1691640"/>
            <a:ext cx="5227167" cy="4480560"/>
          </a:xfrm>
          <a:prstGeom prst="roundRect">
            <a:avLst>
              <a:gd name="adj" fmla="val 6000"/>
            </a:avLst>
          </a:prstGeom>
          <a:solidFill>
            <a:srgbClr val="E7F1F2"/>
          </a:solidFill>
          <a:ln>
            <a:noFill/>
          </a:ln>
          <a:effectLst>
            <a:outerShdw blurRad="190500" dist="381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1691640"/>
            <a:ext cx="5227167" cy="82296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olText1"/>
          <p:cNvSpPr txBox="1"/>
          <p:nvPr/>
        </p:nvSpPr>
        <p:spPr>
          <a:xfrm>
            <a:off x="960120" y="1965960"/>
            <a:ext cx="4587087" cy="4023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r" rtl="1">
              <a:lnSpc>
                <a:spcPct val="110000"/>
              </a:lnSpc>
              <a:spcAft>
                <a:spcPts val="1200"/>
              </a:spcAft>
            </a:pPr>
            <a:r>
              <a:rPr sz="2200" b="1" lang="ar-IQ">
                <a:solidFill>
                  <a:srgbClr val="0E5E6F"/>
                </a:solidFill>
                <a:latin typeface="Segoe UI"/>
                <a:cs typeface="Segoe UI"/>
              </a:rPr>
              <a:t>ما يستدعي الحذر</a:t>
            </a:r>
          </a:p>
          <a:p>
            <a:pPr algn="r" rtl="1">
              <a:lnSpc>
                <a:spcPct val="110000"/>
              </a:lnSpc>
              <a:spcAft>
                <a:spcPts val="1000"/>
              </a:spcAft>
            </a:pPr>
            <a:r>
              <a:rPr sz="1440" b="1" lang="ar-IQ">
                <a:solidFill>
                  <a:srgbClr val="3A8891"/>
                </a:solidFill>
                <a:latin typeface="Segoe UI"/>
                <a:cs typeface="Segoe UI"/>
              </a:rPr>
              <a:t>◂  </a:t>
            </a:r>
            <a:r>
              <a:rPr sz="1800" b="0" lang="ar-IQ">
                <a:solidFill>
                  <a:srgbClr val="1F2328"/>
                </a:solidFill>
                <a:latin typeface="Segoe UI"/>
                <a:cs typeface="Segoe UI"/>
              </a:rPr>
              <a:t>اختلاف الأجهزة والسكان</a:t>
            </a:r>
          </a:p>
          <a:p>
            <a:pPr algn="r" rtl="1">
              <a:lnSpc>
                <a:spcPct val="110000"/>
              </a:lnSpc>
              <a:spcAft>
                <a:spcPts val="1000"/>
              </a:spcAft>
            </a:pPr>
            <a:r>
              <a:rPr sz="1440" b="1" lang="ar-IQ">
                <a:solidFill>
                  <a:srgbClr val="3A8891"/>
                </a:solidFill>
                <a:latin typeface="Segoe UI"/>
                <a:cs typeface="Segoe UI"/>
              </a:rPr>
              <a:t>◂  </a:t>
            </a:r>
            <a:r>
              <a:rPr sz="1800" b="0" lang="ar-IQ">
                <a:solidFill>
                  <a:srgbClr val="1F2328"/>
                </a:solidFill>
                <a:latin typeface="Segoe UI"/>
                <a:cs typeface="Segoe UI"/>
              </a:rPr>
              <a:t>الثقة المفرطة بالآلة</a:t>
            </a:r>
          </a:p>
          <a:p>
            <a:pPr algn="r" rtl="1">
              <a:lnSpc>
                <a:spcPct val="110000"/>
              </a:lnSpc>
              <a:spcAft>
                <a:spcPts val="1000"/>
              </a:spcAft>
            </a:pPr>
            <a:r>
              <a:rPr sz="1440" b="1" lang="ar-IQ">
                <a:solidFill>
                  <a:srgbClr val="3A8891"/>
                </a:solidFill>
                <a:latin typeface="Segoe UI"/>
                <a:cs typeface="Segoe UI"/>
              </a:rPr>
              <a:t>◂  </a:t>
            </a:r>
            <a:r>
              <a:rPr sz="1800" b="0" lang="ar-IQ">
                <a:solidFill>
                  <a:srgbClr val="1F2328"/>
                </a:solidFill>
                <a:latin typeface="Segoe UI"/>
                <a:cs typeface="Segoe UI"/>
              </a:rPr>
              <a:t>خصوصية بيانات المريضات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6415" y="6382512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000" b="0" lang="ar-IQ">
                <a:solidFill>
                  <a:srgbClr val="5B6470"/>
                </a:solidFill>
                <a:latin typeface="Segoe UI"/>
                <a:cs typeface="Segoe UI"/>
              </a:rPr>
              <a:t>الذكاء الاصطناعي في الكشف المبكر عن سرطان الثدي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" y="6382512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lang="ar-IQ">
                <a:solidFill>
                  <a:srgbClr val="3A8891"/>
                </a:solidFill>
                <a:latin typeface="Segoe UI"/>
                <a:cs typeface="Segoe UI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2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-427024" y="-1097280"/>
            <a:ext cx="2194560" cy="2194560"/>
          </a:xfrm>
          <a:prstGeom prst="ellipse">
            <a:avLst/>
          </a:prstGeom>
          <a:solidFill>
            <a:srgbClr val="DCEAEB"/>
          </a:solidFill>
          <a:ln>
            <a:noFill/>
          </a:ln>
          <a:effectLst/>
          <a:scene3d>
            <a:camera prst="orthographicFront"/>
            <a:lightRig rig="threePt" dir="t"/>
          </a:scene3d>
          <a:sp3d extrusionH="0" prstMaterial="powder">
            <a:bevelT w="1097280" h="109728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slab"/>
          <p:cNvSpPr/>
          <p:nvPr/>
        </p:nvSpPr>
        <p:spPr>
          <a:xfrm rot="1200000">
            <a:off x="487375" y="320040"/>
            <a:ext cx="822960" cy="822960"/>
          </a:xfrm>
          <a:prstGeom prst="roundRect">
            <a:avLst>
              <a:gd name="adj" fmla="val 18000"/>
            </a:avLst>
          </a:prstGeom>
          <a:solidFill>
            <a:srgbClr val="266E7D"/>
          </a:solidFill>
          <a:ln>
            <a:noFill/>
          </a:ln>
          <a:effectLst/>
          <a:scene3d>
            <a:camera prst="isometricOffAxis2Left"/>
            <a:lightRig rig="threePt" dir="t"/>
          </a:scene3d>
          <a:sp3d extrusionH="431800" prstMaterial="plastic">
            <a:bevelT w="76200" h="762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cube"/>
          <p:cNvSpPr/>
          <p:nvPr/>
        </p:nvSpPr>
        <p:spPr>
          <a:xfrm rot="19800000">
            <a:off x="304495" y="13716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A8891"/>
          </a:solidFill>
          <a:ln>
            <a:noFill/>
          </a:ln>
          <a:effectLst/>
          <a:scene3d>
            <a:camera prst="isometricOffAxis1Right"/>
            <a:lightRig rig="threePt" dir="t"/>
          </a:scene3d>
          <a:sp3d extrusionH="330200" prstMaterial="plastic">
            <a:bevelT w="63500" h="635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1920240" y="320040"/>
            <a:ext cx="9631375" cy="8686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norm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3000" b="1" lang="ar-IQ">
                <a:solidFill>
                  <a:srgbClr val="0E5E6F"/>
                </a:solidFill>
                <a:latin typeface="Segoe UI"/>
                <a:cs typeface="Segoe UI"/>
              </a:rPr>
              <a:t>تحديات التطبيق ووسائل الحد منها</a:t>
            </a:r>
          </a:p>
        </p:txBody>
      </p:sp>
      <p:sp>
        <p:nvSpPr>
          <p:cNvPr id="6" name="!!rule"/>
          <p:cNvSpPr/>
          <p:nvPr/>
        </p:nvSpPr>
        <p:spPr>
          <a:xfrm>
            <a:off x="10545775" y="1325880"/>
            <a:ext cx="1005840" cy="64008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640080" y="1783080"/>
          <a:ext cx="10911535" cy="2267712"/>
        </p:xfrm>
        <a:graphic>
          <a:graphicData uri="http://schemas.openxmlformats.org/drawingml/2006/table">
            <a:tbl>
              <a:tblPr rtl="1"/>
              <a:tblGrid>
                <a:gridCol w="5455767"/>
                <a:gridCol w="5455768"/>
              </a:tblGrid>
              <a:tr h="566928">
                <a:tc>
                  <a:txBody>
                    <a:bodyPr/>
                    <a:lstStyle/>
                    <a:p>
                      <a:pPr algn="ctr" rtl="1"/>
                      <a:r>
                        <a:rPr sz="1500" b="1" lang="ar-IQ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التحدي</a:t>
                      </a:r>
                    </a:p>
                  </a:txBody>
                  <a:tcPr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1" lang="ar-IQ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وسيلة الحد منه</a:t>
                      </a:r>
                    </a:p>
                  </a:txBody>
                  <a:tcPr anchor="ctr">
                    <a:solidFill>
                      <a:srgbClr val="0E5E6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rtl="1"/>
                      <a:r>
                        <a:rPr sz="1500" b="0" lang="ar-IQ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اختلاف الأجهزة والسكان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 lang="ar-IQ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تحقق محلي على صور عراقية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rtl="1"/>
                      <a:r>
                        <a:rPr sz="1500" b="0" lang="ar-IQ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الثقة المفرطة بالآلة</a:t>
                      </a:r>
                    </a:p>
                  </a:txBody>
                  <a:tcPr anchor="ctr">
                    <a:solidFill>
                      <a:srgbClr val="E6F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 lang="ar-IQ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القرار النهائي للطبيب</a:t>
                      </a:r>
                    </a:p>
                  </a:txBody>
                  <a:tcPr anchor="ctr">
                    <a:solidFill>
                      <a:srgbClr val="E6F2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rtl="1"/>
                      <a:r>
                        <a:rPr sz="1500" b="0" lang="ar-IQ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خصوصية البيانات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 lang="ar-IQ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معالجة محلية للصور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36415" y="6382512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000" b="0" lang="ar-IQ">
                <a:solidFill>
                  <a:srgbClr val="5B6470"/>
                </a:solidFill>
                <a:latin typeface="Segoe UI"/>
                <a:cs typeface="Segoe UI"/>
              </a:rPr>
              <a:t>الذكاء الاصطناعي في الكشف المبكر عن سرطان الثدي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79" y="6382512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lang="ar-IQ">
                <a:solidFill>
                  <a:srgbClr val="3A8891"/>
                </a:solidFill>
                <a:latin typeface="Segoe UI"/>
                <a:cs typeface="Segoe UI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10728655" y="-1371600"/>
            <a:ext cx="2743200" cy="2743200"/>
          </a:xfrm>
          <a:prstGeom prst="ellipse">
            <a:avLst/>
          </a:prstGeom>
          <a:solidFill>
            <a:srgbClr val="DCEAEB"/>
          </a:solidFill>
          <a:ln>
            <a:noFill/>
          </a:ln>
          <a:effectLst/>
          <a:scene3d>
            <a:camera prst="orthographicFront"/>
            <a:lightRig rig="threePt" dir="t"/>
          </a:scene3d>
          <a:sp3d extrusionH="0" prstMaterial="powder">
            <a:bevelT w="1371600" h="13716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slab"/>
          <p:cNvSpPr/>
          <p:nvPr/>
        </p:nvSpPr>
        <p:spPr>
          <a:xfrm rot="20100000">
            <a:off x="-61264" y="5760720"/>
            <a:ext cx="1005840" cy="1005840"/>
          </a:xfrm>
          <a:prstGeom prst="roundRect">
            <a:avLst>
              <a:gd name="adj" fmla="val 18000"/>
            </a:avLst>
          </a:prstGeom>
          <a:solidFill>
            <a:srgbClr val="266E7D"/>
          </a:solidFill>
          <a:ln>
            <a:noFill/>
          </a:ln>
          <a:effectLst/>
          <a:scene3d>
            <a:camera prst="isometricOffAxis2Left"/>
            <a:lightRig rig="threePt" dir="t"/>
          </a:scene3d>
          <a:sp3d extrusionH="431800" prstMaterial="plastic">
            <a:bevelT w="76200" h="762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cube"/>
          <p:cNvSpPr/>
          <p:nvPr/>
        </p:nvSpPr>
        <p:spPr>
          <a:xfrm rot="2250000">
            <a:off x="990295" y="61722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3A8891"/>
          </a:solidFill>
          <a:ln>
            <a:noFill/>
          </a:ln>
          <a:effectLst/>
          <a:scene3d>
            <a:camera prst="isometricOffAxis1Right"/>
            <a:lightRig rig="threePt" dir="t"/>
          </a:scene3d>
          <a:sp3d extrusionH="330200" prstMaterial="plastic">
            <a:bevelT w="63500" h="635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Mark"/>
          <p:cNvSpPr txBox="1"/>
          <p:nvPr/>
        </p:nvSpPr>
        <p:spPr>
          <a:xfrm>
            <a:off x="1371600" y="822960"/>
            <a:ext cx="9448495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8000" b="0" lang="ar-IQ">
                <a:solidFill>
                  <a:srgbClr val="3A8891"/>
                </a:solidFill>
                <a:latin typeface="Segoe UI"/>
                <a:cs typeface="Segoe UI"/>
              </a:rPr>
              <a:t>❝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1371600" y="2103120"/>
            <a:ext cx="9448495" cy="2560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rm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3200" b="1" lang="ar-IQ">
                <a:solidFill>
                  <a:srgbClr val="0E5E6F"/>
                </a:solidFill>
                <a:latin typeface="Segoe UI"/>
                <a:cs typeface="Segoe UI"/>
              </a:rPr>
              <a:t>الوعد الأكبر للذكاء الاصطناعي في الطب أن يعيد للطبيب وقته مع المريض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1371600" y="4846320"/>
            <a:ext cx="94484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1600" b="0" lang="ar-IQ">
                <a:solidFill>
                  <a:srgbClr val="5B6470"/>
                </a:solidFill>
                <a:latin typeface="Segoe UI"/>
                <a:cs typeface="Segoe UI"/>
              </a:rPr>
              <a:t>— بتصرف عن Eric Topol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6415" y="6382512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000" b="0" lang="ar-IQ">
                <a:solidFill>
                  <a:srgbClr val="5B6470"/>
                </a:solidFill>
                <a:latin typeface="Segoe UI"/>
                <a:cs typeface="Segoe UI"/>
              </a:rPr>
              <a:t>الذكاء الاصطناعي في الكشف المبكر عن سرطان الثدي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79" y="6382512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lang="ar-IQ">
                <a:solidFill>
                  <a:srgbClr val="3A8891"/>
                </a:solidFill>
                <a:latin typeface="Segoe UI"/>
                <a:cs typeface="Segoe UI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-609904" y="4206240"/>
            <a:ext cx="3291840" cy="3291840"/>
          </a:xfrm>
          <a:prstGeom prst="ellipse">
            <a:avLst/>
          </a:prstGeom>
          <a:solidFill>
            <a:srgbClr val="DCEAEB"/>
          </a:solidFill>
          <a:ln>
            <a:noFill/>
          </a:ln>
          <a:effectLst/>
          <a:scene3d>
            <a:camera prst="orthographicFront"/>
            <a:lightRig rig="threePt" dir="t"/>
          </a:scene3d>
          <a:sp3d extrusionH="0" prstMaterial="powder">
            <a:bevelT w="1645920" h="164592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slab"/>
          <p:cNvSpPr/>
          <p:nvPr/>
        </p:nvSpPr>
        <p:spPr>
          <a:xfrm rot="2400000">
            <a:off x="807415" y="411480"/>
            <a:ext cx="685800" cy="685800"/>
          </a:xfrm>
          <a:prstGeom prst="roundRect">
            <a:avLst>
              <a:gd name="adj" fmla="val 18000"/>
            </a:avLst>
          </a:prstGeom>
          <a:solidFill>
            <a:srgbClr val="266E7D"/>
          </a:solidFill>
          <a:ln>
            <a:noFill/>
          </a:ln>
          <a:effectLst/>
          <a:scene3d>
            <a:camera prst="isometricOffAxis2Left"/>
            <a:lightRig rig="threePt" dir="t"/>
          </a:scene3d>
          <a:sp3d extrusionH="431800" prstMaterial="plastic">
            <a:bevelT w="76200" h="762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cube"/>
          <p:cNvSpPr/>
          <p:nvPr/>
        </p:nvSpPr>
        <p:spPr>
          <a:xfrm rot="18000000">
            <a:off x="395935" y="580644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3A8891"/>
          </a:solidFill>
          <a:ln>
            <a:noFill/>
          </a:ln>
          <a:effectLst/>
          <a:scene3d>
            <a:camera prst="isometricOffAxis1Right"/>
            <a:lightRig rig="threePt" dir="t"/>
          </a:scene3d>
          <a:sp3d extrusionH="330200" prstMaterial="plastic">
            <a:bevelT w="63500" h="635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1920240" y="320040"/>
            <a:ext cx="9631375" cy="8686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norm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3000" b="1" lang="ar-IQ">
                <a:solidFill>
                  <a:srgbClr val="0E5E6F"/>
                </a:solidFill>
                <a:latin typeface="Segoe UI"/>
                <a:cs typeface="Segoe UI"/>
              </a:rPr>
              <a:t>التوصيات</a:t>
            </a:r>
          </a:p>
        </p:txBody>
      </p:sp>
      <p:sp>
        <p:nvSpPr>
          <p:cNvPr id="6" name="!!rule"/>
          <p:cNvSpPr/>
          <p:nvPr/>
        </p:nvSpPr>
        <p:spPr>
          <a:xfrm>
            <a:off x="10545775" y="1325880"/>
            <a:ext cx="1005840" cy="64008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ody"/>
          <p:cNvSpPr txBox="1"/>
          <p:nvPr/>
        </p:nvSpPr>
        <p:spPr>
          <a:xfrm>
            <a:off x="1005840" y="1691640"/>
            <a:ext cx="10545775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1760" b="1" lang="ar-IQ">
                <a:solidFill>
                  <a:srgbClr val="3A8891"/>
                </a:solidFill>
                <a:latin typeface="Segoe UI"/>
                <a:cs typeface="Segoe UI"/>
              </a:rPr>
              <a:t>◂  </a:t>
            </a:r>
            <a:r>
              <a:rPr sz="2200" b="0" lang="ar-IQ">
                <a:solidFill>
                  <a:srgbClr val="1F2328"/>
                </a:solidFill>
                <a:latin typeface="Segoe UI"/>
                <a:cs typeface="Segoe UI"/>
              </a:rPr>
              <a:t>الذكاء الاصطناعي قارئ مساعد أو فرّاز، لا بديل عن الطبيب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1760" b="1" lang="ar-IQ">
                <a:solidFill>
                  <a:srgbClr val="3A8891"/>
                </a:solidFill>
                <a:latin typeface="Segoe UI"/>
                <a:cs typeface="Segoe UI"/>
              </a:rPr>
              <a:t>◂  </a:t>
            </a:r>
            <a:r>
              <a:rPr sz="2200" b="0" lang="ar-IQ">
                <a:solidFill>
                  <a:srgbClr val="1F2328"/>
                </a:solidFill>
                <a:latin typeface="Segoe UI"/>
                <a:cs typeface="Segoe UI"/>
              </a:rPr>
              <a:t>تحقق محلي على صور من مستشفيات عراقية قبل أي اعتماد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1760" b="1" lang="ar-IQ">
                <a:solidFill>
                  <a:srgbClr val="3A8891"/>
                </a:solidFill>
                <a:latin typeface="Segoe UI"/>
                <a:cs typeface="Segoe UI"/>
              </a:rPr>
              <a:t>◂  </a:t>
            </a:r>
            <a:r>
              <a:rPr sz="2200" b="0" lang="ar-IQ">
                <a:solidFill>
                  <a:srgbClr val="1F2328"/>
                </a:solidFill>
                <a:latin typeface="Segoe UI"/>
                <a:cs typeface="Segoe UI"/>
              </a:rPr>
              <a:t>قاعدة بيانات وطنية مجهولة الهوية لصور الماموغرام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1760" b="1" lang="ar-IQ">
                <a:solidFill>
                  <a:srgbClr val="3A8891"/>
                </a:solidFill>
                <a:latin typeface="Segoe UI"/>
                <a:cs typeface="Segoe UI"/>
              </a:rPr>
              <a:t>◂  </a:t>
            </a:r>
            <a:r>
              <a:rPr sz="2200" b="0" lang="ar-IQ">
                <a:solidFill>
                  <a:srgbClr val="1F2328"/>
                </a:solidFill>
                <a:latin typeface="Segoe UI"/>
                <a:cs typeface="Segoe UI"/>
              </a:rPr>
              <a:t>إطار تنظيمي للمسؤولية الطبية وحماية البيانات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6415" y="6382512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000" b="0" lang="ar-IQ">
                <a:solidFill>
                  <a:srgbClr val="5B6470"/>
                </a:solidFill>
                <a:latin typeface="Segoe UI"/>
                <a:cs typeface="Segoe UI"/>
              </a:rPr>
              <a:t>الذكاء الاصطناعي في الكشف المبكر عن سرطان الثدي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79" y="6382512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lang="ar-IQ">
                <a:solidFill>
                  <a:srgbClr val="3A8891"/>
                </a:solidFill>
                <a:latin typeface="Segoe UI"/>
                <a:cs typeface="Segoe UI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build="p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-609904" y="-1554480"/>
            <a:ext cx="2743200" cy="2743200"/>
          </a:xfrm>
          <a:prstGeom prst="ellipse">
            <a:avLst/>
          </a:prstGeom>
          <a:solidFill>
            <a:srgbClr val="589AA2"/>
          </a:solidFill>
          <a:ln>
            <a:noFill/>
          </a:ln>
          <a:effectLst/>
          <a:scene3d>
            <a:camera prst="orthographicFront"/>
            <a:lightRig rig="threePt" dir="t"/>
          </a:scene3d>
          <a:sp3d extrusionH="0" prstMaterial="powder">
            <a:bevelT w="1371600" h="13716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slab"/>
          <p:cNvSpPr/>
          <p:nvPr/>
        </p:nvSpPr>
        <p:spPr>
          <a:xfrm rot="21000000">
            <a:off x="-61264" y="5577840"/>
            <a:ext cx="1097280" cy="1097280"/>
          </a:xfrm>
          <a:prstGeom prst="roundRect">
            <a:avLst>
              <a:gd name="adj" fmla="val 18000"/>
            </a:avLst>
          </a:prstGeom>
          <a:solidFill>
            <a:srgbClr val="6296A1"/>
          </a:solidFill>
          <a:ln>
            <a:noFill/>
          </a:ln>
          <a:effectLst/>
          <a:scene3d>
            <a:camera prst="isometricOffAxis2Left"/>
            <a:lightRig rig="threePt" dir="t"/>
          </a:scene3d>
          <a:sp3d extrusionH="431800" prstMaterial="plastic">
            <a:bevelT w="76200" h="762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cube"/>
          <p:cNvSpPr/>
          <p:nvPr/>
        </p:nvSpPr>
        <p:spPr>
          <a:xfrm rot="900000">
            <a:off x="1218895" y="13258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A8891"/>
          </a:solidFill>
          <a:ln>
            <a:noFill/>
          </a:ln>
          <a:effectLst/>
          <a:scene3d>
            <a:camera prst="isometricOffAxis1Right"/>
            <a:lightRig rig="threePt" dir="t"/>
          </a:scene3d>
          <a:sp3d extrusionH="330200" prstMaterial="plastic">
            <a:bevelT w="63500" h="63500"/>
            <a:extrusionClr>
              <a:srgbClr val="0A465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640080" y="2011680"/>
            <a:ext cx="10911535" cy="1371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rmAutofit/>
          </a:bodyPr>
          <a:lstStyle/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5400" b="1" lang="ar-IQ">
                <a:solidFill>
                  <a:srgbClr val="FFFFFF"/>
                </a:solidFill>
                <a:latin typeface="Segoe UI"/>
                <a:cs typeface="Segoe UI"/>
              </a:rPr>
              <a:t>شكراً لإصغائكم</a:t>
            </a:r>
          </a:p>
        </p:txBody>
      </p:sp>
      <p:sp>
        <p:nvSpPr>
          <p:cNvPr id="6" name="!!rule"/>
          <p:cNvSpPr/>
          <p:nvPr/>
        </p:nvSpPr>
        <p:spPr>
          <a:xfrm>
            <a:off x="5455767" y="3520440"/>
            <a:ext cx="1280160" cy="73152"/>
          </a:xfrm>
          <a:prstGeom prst="rect">
            <a:avLst/>
          </a:prstGeom>
          <a:solidFill>
            <a:srgbClr val="3A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ub"/>
          <p:cNvSpPr txBox="1"/>
          <p:nvPr/>
        </p:nvSpPr>
        <p:spPr>
          <a:xfrm>
            <a:off x="640080" y="3794760"/>
            <a:ext cx="10911535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2400" b="0" lang="ar-IQ">
                <a:solidFill>
                  <a:srgbClr val="C3D7DB"/>
                </a:solidFill>
                <a:latin typeface="Segoe UI"/>
                <a:cs typeface="Segoe UI"/>
              </a:rPr>
              <a:t>هل من أسئلة؟</a:t>
            </a:r>
          </a:p>
        </p:txBody>
      </p:sp>
      <p:sp>
        <p:nvSpPr>
          <p:cNvPr id="8" name="Name"/>
          <p:cNvSpPr txBox="1"/>
          <p:nvPr/>
        </p:nvSpPr>
        <p:spPr>
          <a:xfrm>
            <a:off x="640080" y="493776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rmAutofit/>
          </a:bodyPr>
          <a:lstStyle/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1600" b="1" lang="ar-IQ">
                <a:solidFill>
                  <a:srgbClr val="75ACB2"/>
                </a:solidFill>
                <a:latin typeface="Segoe UI"/>
                <a:cs typeface="Segoe UI"/>
              </a:rPr>
              <a:t>زينب حيدر عبد الكريم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الذكاء الاصطناعي في الكشف المبكر عن سرطان الثدي</dc:title>
  <dc:subject>الأشعة التشخيصية</dc:subject>
  <dc:creator>زينب حيدر عبد الكريم</dc:creator>
  <cp:keywords/>
  <dc:description/>
  <cp:lastModifiedBy>زينب حيدر عبد الكريم</cp:lastModifiedBy>
  <cp:revision>1</cp:revision>
  <dcterms:created xsi:type="dcterms:W3CDTF">2026-09-30T19:46:22Z</dcterms:created>
  <dcterms:modified xsi:type="dcterms:W3CDTF">2026-09-30T19:46:22Z</dcterms:modified>
  <cp:category/>
</cp:coreProperties>
</file>